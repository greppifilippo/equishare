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0" r:id="rId4"/>
    <p:sldId id="262" r:id="rId5"/>
    <p:sldId id="258" r:id="rId6"/>
    <p:sldId id="259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743"/>
    <p:restoredTop sz="94610"/>
  </p:normalViewPr>
  <p:slideViewPr>
    <p:cSldViewPr snapToGrid="0" snapToObjects="1">
      <p:cViewPr varScale="1">
        <p:scale>
          <a:sx n="188" d="100"/>
          <a:sy n="188" d="100"/>
        </p:scale>
        <p:origin x="192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4911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DBE8B-FA81-D77E-0107-9FA8B802A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C9BCE4-4D48-F247-8033-3BA0766B4C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21EBBC-6126-020D-3BCE-D4B803C7B9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10FB53-52D2-513C-4802-1AA6637B1F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7293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457200"/>
            <a:ext cx="2926080" cy="2926080"/>
          </a:xfrm>
          <a:prstGeom prst="ellipse">
            <a:avLst/>
          </a:prstGeom>
          <a:solidFill>
            <a:srgbClr val="0F8B59">
              <a:alpha val="12000"/>
            </a:srgbClr>
          </a:solidFill>
          <a:ln w="12700">
            <a:solidFill>
              <a:srgbClr val="0F8B59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7863840" y="91440"/>
            <a:ext cx="1645920" cy="1645920"/>
          </a:xfrm>
          <a:prstGeom prst="ellipse">
            <a:avLst/>
          </a:prstGeom>
          <a:solidFill>
            <a:srgbClr val="3BB078">
              <a:alpha val="16000"/>
            </a:srgbClr>
          </a:solidFill>
          <a:ln w="12700">
            <a:solidFill>
              <a:srgbClr val="3BB078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457200" y="29260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3BB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PROGETTO PROGRAMMAZIONE DI SISTEMI MOBILI · UNIBO 2025–26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EquiShare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2825931" cy="54864"/>
          </a:xfrm>
          <a:prstGeom prst="rect">
            <a:avLst/>
          </a:prstGeom>
          <a:solidFill>
            <a:srgbClr val="3BB078"/>
          </a:solidFill>
          <a:ln w="12700">
            <a:solidFill>
              <a:srgbClr val="3BB07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500" noProof="0" dirty="0">
                <a:solidFill>
                  <a:srgbClr val="90C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perdere tempo in conti infiniti quando esiste EquiShare?</a:t>
            </a:r>
            <a:endParaRPr lang="it-IT" sz="1500" noProof="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A8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EquiShare</a:t>
            </a:r>
            <a:r>
              <a:rPr lang="en-US" sz="1050" dirty="0">
                <a:solidFill>
                  <a:srgbClr val="A8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A8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</a:t>
            </a:r>
            <a:r>
              <a:rPr lang="en-US" sz="1050" dirty="0">
                <a:solidFill>
                  <a:srgbClr val="A8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A8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l’app</a:t>
            </a:r>
            <a:r>
              <a:rPr lang="en-US" sz="1050" dirty="0">
                <a:solidFill>
                  <a:srgbClr val="A8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i="1" dirty="0">
                <a:solidFill>
                  <a:srgbClr val="A8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</a:t>
            </a:r>
            <a:r>
              <a:rPr lang="en-US" sz="1050" b="1" dirty="0">
                <a:solidFill>
                  <a:srgbClr val="A8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A8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pensata</a:t>
            </a:r>
            <a:r>
              <a:rPr lang="en-US" sz="1050" dirty="0">
                <a:solidFill>
                  <a:srgbClr val="A8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gruppi di amici, coinquilini,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colleghi e compagni di viaggio.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91440" cy="91440"/>
          </a:xfrm>
          <a:prstGeom prst="ellipse">
            <a:avLst/>
          </a:prstGeom>
          <a:solidFill>
            <a:srgbClr val="3BB078"/>
          </a:solidFill>
          <a:ln w="12700">
            <a:solidFill>
              <a:srgbClr val="3BB07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652195" y="311810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Creazione e gestione di gruppi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557016"/>
            <a:ext cx="91440" cy="91440"/>
          </a:xfrm>
          <a:prstGeom prst="ellipse">
            <a:avLst/>
          </a:prstGeom>
          <a:solidFill>
            <a:srgbClr val="3BB078"/>
          </a:solidFill>
          <a:ln w="12700">
            <a:solidFill>
              <a:srgbClr val="3BB07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640080" y="345643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Inserimento delle spese condivise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895344"/>
            <a:ext cx="91440" cy="91440"/>
          </a:xfrm>
          <a:prstGeom prst="ellipse">
            <a:avLst/>
          </a:prstGeom>
          <a:solidFill>
            <a:srgbClr val="3BB078"/>
          </a:solidFill>
          <a:ln w="12700">
            <a:solidFill>
              <a:srgbClr val="3BB07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640080" y="379476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Calcolo automatico dei saldi tra membri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233672"/>
            <a:ext cx="91440" cy="91440"/>
          </a:xfrm>
          <a:prstGeom prst="ellipse">
            <a:avLst/>
          </a:prstGeom>
          <a:solidFill>
            <a:srgbClr val="3BB078"/>
          </a:solidFill>
          <a:ln w="12700">
            <a:solidFill>
              <a:srgbClr val="3BB07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640080" y="4130035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Storico attività, notifiche e statistiche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4571" y="1021842"/>
            <a:ext cx="3295498" cy="3319272"/>
          </a:xfrm>
          <a:prstGeom prst="roundRect">
            <a:avLst>
              <a:gd name="adj" fmla="val 3330"/>
            </a:avLst>
          </a:prstGeom>
          <a:solidFill>
            <a:srgbClr val="0F8B59">
              <a:alpha val="14000"/>
            </a:srgbClr>
          </a:solidFill>
          <a:ln w="12700">
            <a:solidFill>
              <a:srgbClr val="90CAA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8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30646" y="1149858"/>
            <a:ext cx="1378458" cy="3063240"/>
          </a:xfrm>
          <a:prstGeom prst="rect">
            <a:avLst/>
          </a:prstGeom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pic>
      <p:pic>
        <p:nvPicPr>
          <p:cNvPr id="19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232675" y="1149858"/>
            <a:ext cx="1378458" cy="3063240"/>
          </a:xfrm>
          <a:prstGeom prst="rect">
            <a:avLst/>
          </a:prstGeom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24" name="Shape 13">
            <a:extLst>
              <a:ext uri="{FF2B5EF4-FFF2-40B4-BE49-F238E27FC236}">
                <a16:creationId xmlns:a16="http://schemas.microsoft.com/office/drawing/2014/main" id="{5C400576-EB7A-31F7-1A9D-A5A3AADF3232}"/>
              </a:ext>
            </a:extLst>
          </p:cNvPr>
          <p:cNvSpPr/>
          <p:nvPr/>
        </p:nvSpPr>
        <p:spPr>
          <a:xfrm>
            <a:off x="457200" y="4572000"/>
            <a:ext cx="91440" cy="91440"/>
          </a:xfrm>
          <a:prstGeom prst="ellipse">
            <a:avLst/>
          </a:prstGeom>
          <a:solidFill>
            <a:srgbClr val="3BB078"/>
          </a:solidFill>
          <a:ln w="12700">
            <a:solidFill>
              <a:srgbClr val="3BB07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14">
            <a:extLst>
              <a:ext uri="{FF2B5EF4-FFF2-40B4-BE49-F238E27FC236}">
                <a16:creationId xmlns:a16="http://schemas.microsoft.com/office/drawing/2014/main" id="{C027856C-F65E-30C0-4AFA-B8ACD123FD36}"/>
              </a:ext>
            </a:extLst>
          </p:cNvPr>
          <p:cNvSpPr/>
          <p:nvPr/>
        </p:nvSpPr>
        <p:spPr>
          <a:xfrm>
            <a:off x="640080" y="4471416"/>
            <a:ext cx="330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3,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temi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dinamici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l’app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segue il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tuo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telefono</a:t>
            </a:r>
            <a:endParaRPr lang="en-US" sz="11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785BAAC-D962-833D-0B36-53102D74113A}"/>
              </a:ext>
            </a:extLst>
          </p:cNvPr>
          <p:cNvSpPr txBox="1"/>
          <p:nvPr/>
        </p:nvSpPr>
        <p:spPr>
          <a:xfrm>
            <a:off x="4053611" y="4764024"/>
            <a:ext cx="47264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t-IT" sz="1400" b="1" dirty="0">
                <a:solidFill>
                  <a:schemeClr val="bg1"/>
                </a:solidFill>
              </a:rPr>
              <a:t>Filippo Greppi &amp; Ettore Spaccini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2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Dividere le spese diventa complicato quando il gruppo cresce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8412480" cy="36576"/>
          </a:xfrm>
          <a:prstGeom prst="rect">
            <a:avLst/>
          </a:prstGeom>
          <a:solidFill>
            <a:srgbClr val="90CAA6"/>
          </a:solidFill>
          <a:ln w="12700">
            <a:solidFill>
              <a:srgbClr val="90CA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365760" y="877824"/>
            <a:ext cx="306324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90CAA6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sp>
        <p:nvSpPr>
          <p:cNvPr id="5" name="Shape 3"/>
          <p:cNvSpPr/>
          <p:nvPr/>
        </p:nvSpPr>
        <p:spPr>
          <a:xfrm>
            <a:off x="365760" y="877824"/>
            <a:ext cx="3063240" cy="54864"/>
          </a:xfrm>
          <a:prstGeom prst="rect">
            <a:avLst/>
          </a:prstGeom>
          <a:solidFill>
            <a:srgbClr val="6B7A72"/>
          </a:solidFill>
          <a:ln w="12700">
            <a:solidFill>
              <a:srgbClr val="6B7A7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502920" y="969264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PROBLEMA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28803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Spese distribuite tra persone diverse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Importi, categorie e ricevute variabili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Difficile capire chi deve pagare chi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Calcoli manuali fonte di errori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3003296"/>
            <a:ext cx="306324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F8B59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365760" y="3003296"/>
            <a:ext cx="3063240" cy="54864"/>
          </a:xfrm>
          <a:prstGeom prst="rect">
            <a:avLst/>
          </a:prstGeom>
          <a:solidFill>
            <a:srgbClr val="0F8B59"/>
          </a:solidFill>
          <a:ln w="12700">
            <a:solidFill>
              <a:srgbClr val="0F8B5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502920" y="3094736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0F8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SOLUZIONE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3387344"/>
            <a:ext cx="28346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Centralizza le spese del gruppo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Calcola debiti e crediti automaticamente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i pagamenti tra i membri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attività e notifiche push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165092" y="1225296"/>
            <a:ext cx="4613148" cy="3380994"/>
          </a:xfrm>
          <a:prstGeom prst="roundRect">
            <a:avLst>
              <a:gd name="adj" fmla="val 5198"/>
            </a:avLst>
          </a:prstGeom>
          <a:solidFill>
            <a:srgbClr val="EDF7F1"/>
          </a:solidFill>
          <a:ln w="12700">
            <a:solidFill>
              <a:srgbClr val="90CA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86815C87-FF4C-C69E-277D-CBED558341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8421" y="1368933"/>
            <a:ext cx="1392174" cy="309372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23A10ACD-A64E-BB66-BA7A-7BAAAD9077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7065" y="1373255"/>
            <a:ext cx="1392174" cy="309372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85AE8644-1582-57BD-B1AF-AC44D375C8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5740" y="1364742"/>
            <a:ext cx="1346180" cy="3093720"/>
          </a:xfrm>
          <a:prstGeom prst="rect">
            <a:avLst/>
          </a:prstGeom>
          <a:effectLst>
            <a:outerShdw blurRad="130502" dist="50800" dir="7858571" sx="95000" sy="95000" algn="ctr" rotWithShape="0">
              <a:srgbClr val="000000">
                <a:alpha val="28172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3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60785" y="3110410"/>
            <a:ext cx="3200400" cy="3200400"/>
          </a:xfrm>
          <a:prstGeom prst="ellipse">
            <a:avLst/>
          </a:prstGeom>
          <a:solidFill>
            <a:srgbClr val="0F8B59">
              <a:alpha val="12000"/>
            </a:srgbClr>
          </a:solidFill>
          <a:ln w="12700">
            <a:solidFill>
              <a:srgbClr val="0F8B59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8060985" y="2837887"/>
            <a:ext cx="1828800" cy="1828800"/>
          </a:xfrm>
          <a:prstGeom prst="ellipse">
            <a:avLst/>
          </a:prstGeom>
          <a:solidFill>
            <a:srgbClr val="3BB078">
              <a:alpha val="8000"/>
            </a:srgbClr>
          </a:solidFill>
          <a:ln w="12700">
            <a:solidFill>
              <a:srgbClr val="3BB078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411480" y="2560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3BB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 REALIZZATI IN FIGMA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552426"/>
            <a:ext cx="2560320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900" b="1" noProof="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Da dove siamo partiti …</a:t>
            </a:r>
            <a:endParaRPr lang="it-IT" sz="1900" noProof="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F780C3F-1AF7-0CC8-DE0C-569EB1FF458D}"/>
              </a:ext>
            </a:extLst>
          </p:cNvPr>
          <p:cNvSpPr txBox="1"/>
          <p:nvPr/>
        </p:nvSpPr>
        <p:spPr>
          <a:xfrm>
            <a:off x="2523744" y="42976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1953D98A-16D6-9D4F-04EE-44CB4C83D1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7902" y="1104638"/>
            <a:ext cx="1719428" cy="3605972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7A425913-E7B3-4C6A-19C6-6813B55360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4828" y="1104638"/>
            <a:ext cx="1719428" cy="3605972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300D9553-8173-12CF-7FC3-914545AA93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8154" y="1087801"/>
            <a:ext cx="1653028" cy="3578886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67FA0DB8-43FE-E48C-B8B6-201989D3BE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1087801"/>
            <a:ext cx="1653028" cy="35788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0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1A5A03-8D78-787A-0460-A70B4E401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28CDC26-634A-9F3F-3C34-4B965F8EB4F4}"/>
              </a:ext>
            </a:extLst>
          </p:cNvPr>
          <p:cNvSpPr/>
          <p:nvPr/>
        </p:nvSpPr>
        <p:spPr>
          <a:xfrm>
            <a:off x="-731520" y="3474720"/>
            <a:ext cx="3200400" cy="3200400"/>
          </a:xfrm>
          <a:prstGeom prst="ellipse">
            <a:avLst/>
          </a:prstGeom>
          <a:solidFill>
            <a:srgbClr val="0F8B59">
              <a:alpha val="12000"/>
            </a:srgbClr>
          </a:solidFill>
          <a:ln w="12700">
            <a:solidFill>
              <a:srgbClr val="0F8B59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8B1F5F6-C13A-D896-A668-D55DF15ACC84}"/>
              </a:ext>
            </a:extLst>
          </p:cNvPr>
          <p:cNvSpPr/>
          <p:nvPr/>
        </p:nvSpPr>
        <p:spPr>
          <a:xfrm>
            <a:off x="1828800" y="3657600"/>
            <a:ext cx="1828800" cy="1828800"/>
          </a:xfrm>
          <a:prstGeom prst="ellipse">
            <a:avLst/>
          </a:prstGeom>
          <a:solidFill>
            <a:srgbClr val="3BB078">
              <a:alpha val="8000"/>
            </a:srgbClr>
          </a:solidFill>
          <a:ln w="12700">
            <a:solidFill>
              <a:srgbClr val="3BB078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3119F5C-FC3B-C3F7-9EF8-24B9A40D936B}"/>
              </a:ext>
            </a:extLst>
          </p:cNvPr>
          <p:cNvSpPr/>
          <p:nvPr/>
        </p:nvSpPr>
        <p:spPr>
          <a:xfrm>
            <a:off x="411480" y="2560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3BB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 REALIZZATI IN FIGMA</a:t>
            </a:r>
            <a:endParaRPr lang="en-US" sz="8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82E307D-9662-1F46-FA3E-B56F3C22DA52}"/>
              </a:ext>
            </a:extLst>
          </p:cNvPr>
          <p:cNvSpPr/>
          <p:nvPr/>
        </p:nvSpPr>
        <p:spPr>
          <a:xfrm>
            <a:off x="411479" y="552426"/>
            <a:ext cx="3324707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900" b="1" noProof="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Le funzioni pensate inizialmente</a:t>
            </a:r>
            <a:endParaRPr lang="it-IT" sz="1900" noProof="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C5F6D4-1039-0118-FE54-7E6EA3F5C30E}"/>
              </a:ext>
            </a:extLst>
          </p:cNvPr>
          <p:cNvSpPr txBox="1"/>
          <p:nvPr/>
        </p:nvSpPr>
        <p:spPr>
          <a:xfrm>
            <a:off x="2523744" y="42976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8C4D39-D614-E525-7B44-CD8D69380C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8424" y="859531"/>
            <a:ext cx="1756818" cy="38363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6E2E971-9D12-F5C7-D82B-AF9D2CE916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9858" y="1104634"/>
            <a:ext cx="1427113" cy="33461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BE643AF-1F64-5291-A074-3AD2532ED3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510" y="1051152"/>
            <a:ext cx="1645614" cy="35673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0F13D76-F1C9-6101-FDAC-52CBBE866C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97655" y="1051152"/>
            <a:ext cx="1443951" cy="383631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BF61FB9-D593-63E3-78A0-D1DB6E68CE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7640" y="769355"/>
            <a:ext cx="1300765" cy="4126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18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8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Funzionalità pensate per la gestione reale delle spese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594360"/>
            <a:ext cx="8412480" cy="36576"/>
          </a:xfrm>
          <a:prstGeom prst="rect">
            <a:avLst/>
          </a:prstGeom>
          <a:solidFill>
            <a:srgbClr val="90CAA6"/>
          </a:solidFill>
          <a:ln w="12700">
            <a:solidFill>
              <a:srgbClr val="90CA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320040" y="929496"/>
            <a:ext cx="1874520" cy="1024128"/>
          </a:xfrm>
          <a:prstGeom prst="roundRect">
            <a:avLst>
              <a:gd name="adj" fmla="val 6250"/>
            </a:avLst>
          </a:prstGeom>
          <a:solidFill>
            <a:srgbClr val="F7FBF8"/>
          </a:solidFill>
          <a:ln w="12700">
            <a:solidFill>
              <a:srgbClr val="90CAA6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320040" y="929496"/>
            <a:ext cx="64008" cy="1024128"/>
          </a:xfrm>
          <a:prstGeom prst="rect">
            <a:avLst/>
          </a:prstGeom>
          <a:solidFill>
            <a:srgbClr val="0F8B59"/>
          </a:solidFill>
          <a:ln w="12700">
            <a:solidFill>
              <a:srgbClr val="0F8B5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457200" y="1158096"/>
            <a:ext cx="420624" cy="420624"/>
          </a:xfrm>
          <a:prstGeom prst="ellipse">
            <a:avLst/>
          </a:prstGeom>
          <a:solidFill>
            <a:srgbClr val="0F8B59">
              <a:alpha val="86000"/>
            </a:srgbClr>
          </a:solidFill>
          <a:ln w="12700">
            <a:solidFill>
              <a:srgbClr val="0F8B59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457200" y="115809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1014984" y="1020936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 sicuro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14984" y="1331832"/>
            <a:ext cx="1517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Email/password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Google Sign-In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31720" y="929496"/>
            <a:ext cx="1874520" cy="1024128"/>
          </a:xfrm>
          <a:prstGeom prst="roundRect">
            <a:avLst>
              <a:gd name="adj" fmla="val 6250"/>
            </a:avLst>
          </a:prstGeom>
          <a:solidFill>
            <a:srgbClr val="F7FBF8"/>
          </a:solidFill>
          <a:ln w="12700">
            <a:solidFill>
              <a:srgbClr val="90CAA6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2331720" y="929496"/>
            <a:ext cx="64008" cy="1024128"/>
          </a:xfrm>
          <a:prstGeom prst="rect">
            <a:avLst/>
          </a:prstGeom>
          <a:solidFill>
            <a:srgbClr val="3BB078"/>
          </a:solidFill>
          <a:ln w="12700">
            <a:solidFill>
              <a:srgbClr val="3BB07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2468880" y="1158096"/>
            <a:ext cx="420624" cy="420624"/>
          </a:xfrm>
          <a:prstGeom prst="ellipse">
            <a:avLst/>
          </a:prstGeom>
          <a:solidFill>
            <a:srgbClr val="3BB078">
              <a:alpha val="86000"/>
            </a:srgbClr>
          </a:solidFill>
          <a:ln w="12700">
            <a:solidFill>
              <a:srgbClr val="3BB078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2468880" y="115809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3026664" y="1020936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Gruppi &amp; ruoli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026664" y="1331832"/>
            <a:ext cx="1075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inviti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gestione membri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118216"/>
            <a:ext cx="1874520" cy="1024128"/>
          </a:xfrm>
          <a:prstGeom prst="roundRect">
            <a:avLst>
              <a:gd name="adj" fmla="val 6250"/>
            </a:avLst>
          </a:prstGeom>
          <a:solidFill>
            <a:srgbClr val="F7FBF8"/>
          </a:solidFill>
          <a:ln w="12700">
            <a:solidFill>
              <a:srgbClr val="90CAA6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320040" y="2118216"/>
            <a:ext cx="64008" cy="1024128"/>
          </a:xfrm>
          <a:prstGeom prst="rect">
            <a:avLst/>
          </a:prstGeom>
          <a:solidFill>
            <a:srgbClr val="0F8B59"/>
          </a:solidFill>
          <a:ln w="12700">
            <a:solidFill>
              <a:srgbClr val="0F8B5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457200" y="2346816"/>
            <a:ext cx="420624" cy="420624"/>
          </a:xfrm>
          <a:prstGeom prst="ellipse">
            <a:avLst/>
          </a:prstGeom>
          <a:solidFill>
            <a:srgbClr val="0F8B59">
              <a:alpha val="86000"/>
            </a:srgbClr>
          </a:solidFill>
          <a:ln w="12700">
            <a:solidFill>
              <a:srgbClr val="0F8B59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it-IT">
              <a:solidFill>
                <a:schemeClr val="bg1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7200" y="234681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14984" y="2209656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Spese complete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014984" y="2520552"/>
            <a:ext cx="1517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Categoria, data,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pagatori, partecipanti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331720" y="2118216"/>
            <a:ext cx="1874520" cy="1024128"/>
          </a:xfrm>
          <a:prstGeom prst="roundRect">
            <a:avLst>
              <a:gd name="adj" fmla="val 6250"/>
            </a:avLst>
          </a:prstGeom>
          <a:solidFill>
            <a:srgbClr val="F7FBF8"/>
          </a:solidFill>
          <a:ln w="12700">
            <a:solidFill>
              <a:srgbClr val="90CAA6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3" name="Shape 21"/>
          <p:cNvSpPr/>
          <p:nvPr/>
        </p:nvSpPr>
        <p:spPr>
          <a:xfrm>
            <a:off x="2331720" y="2118216"/>
            <a:ext cx="64008" cy="1024128"/>
          </a:xfrm>
          <a:prstGeom prst="rect">
            <a:avLst/>
          </a:prstGeom>
          <a:solidFill>
            <a:srgbClr val="3BB078"/>
          </a:solidFill>
          <a:ln w="12700">
            <a:solidFill>
              <a:srgbClr val="3BB07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Shape 22"/>
          <p:cNvSpPr/>
          <p:nvPr/>
        </p:nvSpPr>
        <p:spPr>
          <a:xfrm>
            <a:off x="2468880" y="2346816"/>
            <a:ext cx="420624" cy="420624"/>
          </a:xfrm>
          <a:prstGeom prst="ellipse">
            <a:avLst/>
          </a:prstGeom>
          <a:solidFill>
            <a:srgbClr val="3BB078">
              <a:alpha val="86000"/>
            </a:srgbClr>
          </a:solidFill>
          <a:ln w="12700">
            <a:solidFill>
              <a:srgbClr val="3BB078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2468880" y="234681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3026664" y="2209656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b="1" dirty="0">
                <a:solidFill>
                  <a:srgbClr val="12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Saldi &amp; </a:t>
            </a:r>
            <a:r>
              <a:rPr lang="en-US" sz="1150" b="1" dirty="0" err="1">
                <a:solidFill>
                  <a:srgbClr val="12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statistiche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026664" y="2520552"/>
            <a:ext cx="1075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 err="1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Pagamenti</a:t>
            </a: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950" dirty="0" err="1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attività</a:t>
            </a: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endParaRPr lang="en-US" sz="950" dirty="0"/>
          </a:p>
          <a:p>
            <a:r>
              <a:rPr lang="en-US" sz="950" dirty="0" err="1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notifiche</a:t>
            </a: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push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3306936"/>
            <a:ext cx="1874520" cy="1024128"/>
          </a:xfrm>
          <a:prstGeom prst="roundRect">
            <a:avLst>
              <a:gd name="adj" fmla="val 6250"/>
            </a:avLst>
          </a:prstGeom>
          <a:solidFill>
            <a:srgbClr val="F7FBF8"/>
          </a:solidFill>
          <a:ln w="12700">
            <a:solidFill>
              <a:srgbClr val="90CAA6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9" name="Shape 27"/>
          <p:cNvSpPr/>
          <p:nvPr/>
        </p:nvSpPr>
        <p:spPr>
          <a:xfrm>
            <a:off x="320040" y="3306936"/>
            <a:ext cx="64008" cy="1024128"/>
          </a:xfrm>
          <a:prstGeom prst="rect">
            <a:avLst/>
          </a:prstGeom>
          <a:solidFill>
            <a:srgbClr val="0F8B59"/>
          </a:solidFill>
          <a:ln w="12700">
            <a:solidFill>
              <a:srgbClr val="0F8B5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Shape 28"/>
          <p:cNvSpPr/>
          <p:nvPr/>
        </p:nvSpPr>
        <p:spPr>
          <a:xfrm>
            <a:off x="457200" y="3535536"/>
            <a:ext cx="420624" cy="420624"/>
          </a:xfrm>
          <a:prstGeom prst="ellipse">
            <a:avLst/>
          </a:prstGeom>
          <a:solidFill>
            <a:srgbClr val="0F8B59">
              <a:alpha val="86000"/>
            </a:srgbClr>
          </a:solidFill>
          <a:ln w="12700">
            <a:solidFill>
              <a:srgbClr val="0F8B59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457200" y="353553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1014984" y="3398376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Ricevute foto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014984" y="3709272"/>
            <a:ext cx="1517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fotocamera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galleria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331720" y="3306936"/>
            <a:ext cx="1874520" cy="1024128"/>
          </a:xfrm>
          <a:prstGeom prst="roundRect">
            <a:avLst>
              <a:gd name="adj" fmla="val 6250"/>
            </a:avLst>
          </a:prstGeom>
          <a:solidFill>
            <a:srgbClr val="F7FBF8"/>
          </a:solidFill>
          <a:ln w="12700">
            <a:solidFill>
              <a:srgbClr val="90CAA6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5" name="Shape 33"/>
          <p:cNvSpPr/>
          <p:nvPr/>
        </p:nvSpPr>
        <p:spPr>
          <a:xfrm>
            <a:off x="2331720" y="3306936"/>
            <a:ext cx="64008" cy="1024128"/>
          </a:xfrm>
          <a:prstGeom prst="rect">
            <a:avLst/>
          </a:prstGeom>
          <a:solidFill>
            <a:srgbClr val="3BB078"/>
          </a:solidFill>
          <a:ln w="12700">
            <a:solidFill>
              <a:srgbClr val="3BB07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Shape 34"/>
          <p:cNvSpPr/>
          <p:nvPr/>
        </p:nvSpPr>
        <p:spPr>
          <a:xfrm>
            <a:off x="2468880" y="3535536"/>
            <a:ext cx="420624" cy="420624"/>
          </a:xfrm>
          <a:prstGeom prst="ellipse">
            <a:avLst/>
          </a:prstGeom>
          <a:solidFill>
            <a:srgbClr val="3BB078">
              <a:alpha val="86000"/>
            </a:srgbClr>
          </a:solidFill>
          <a:ln w="12700">
            <a:solidFill>
              <a:srgbClr val="3BB078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2468880" y="353553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8" name="Text 36"/>
          <p:cNvSpPr/>
          <p:nvPr/>
        </p:nvSpPr>
        <p:spPr>
          <a:xfrm>
            <a:off x="3026664" y="3398376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 err="1">
                <a:solidFill>
                  <a:srgbClr val="12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Grafico</a:t>
            </a:r>
            <a:r>
              <a:rPr lang="en-US" sz="1150" b="1" dirty="0">
                <a:solidFill>
                  <a:srgbClr val="12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dirty="0" err="1">
                <a:solidFill>
                  <a:srgbClr val="123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Mensile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3026664" y="3709272"/>
            <a:ext cx="1075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Grafico</a:t>
            </a: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torta, </a:t>
            </a:r>
          </a:p>
          <a:p>
            <a:pPr marL="0" indent="0">
              <a:buNone/>
            </a:pPr>
            <a:r>
              <a:rPr lang="en-US" sz="950" dirty="0" err="1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spese</a:t>
            </a: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suddivise</a:t>
            </a:r>
            <a:endParaRPr lang="en-US" sz="950" dirty="0">
              <a:solidFill>
                <a:srgbClr val="6B7A7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4343400" y="735724"/>
            <a:ext cx="4434840" cy="3813416"/>
          </a:xfrm>
          <a:prstGeom prst="roundRect">
            <a:avLst>
              <a:gd name="adj" fmla="val 2644"/>
            </a:avLst>
          </a:prstGeom>
          <a:solidFill>
            <a:srgbClr val="F7FBF8"/>
          </a:solidFill>
          <a:ln w="12700">
            <a:solidFill>
              <a:srgbClr val="90CA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1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480560" y="1187345"/>
            <a:ext cx="1194136" cy="3033991"/>
          </a:xfrm>
          <a:prstGeom prst="rect">
            <a:avLst/>
          </a:prstGeom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pic>
      <p:pic>
        <p:nvPicPr>
          <p:cNvPr id="42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77566" y="1187345"/>
            <a:ext cx="1386122" cy="3080271"/>
          </a:xfrm>
          <a:prstGeom prst="rect">
            <a:avLst/>
          </a:prstGeom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6186F753-66CE-6332-4208-4D6E76739D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6558" y="1193221"/>
            <a:ext cx="1386122" cy="308027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F8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Android con backend cloud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365760" y="594360"/>
            <a:ext cx="8412480" cy="36576"/>
          </a:xfrm>
          <a:prstGeom prst="rect">
            <a:avLst/>
          </a:prstGeom>
          <a:solidFill>
            <a:srgbClr val="90CAA6"/>
          </a:solidFill>
          <a:ln w="12700">
            <a:solidFill>
              <a:srgbClr val="90CA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5212080" cy="987552"/>
          </a:xfrm>
          <a:prstGeom prst="roundRect">
            <a:avLst>
              <a:gd name="adj" fmla="val 7407"/>
            </a:avLst>
          </a:prstGeom>
          <a:solidFill>
            <a:srgbClr val="E8F7EE"/>
          </a:solidFill>
          <a:ln w="19050">
            <a:solidFill>
              <a:srgbClr val="3BB07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2296" cy="987552"/>
          </a:xfrm>
          <a:prstGeom prst="rect">
            <a:avLst/>
          </a:prstGeom>
          <a:solidFill>
            <a:srgbClr val="3BB078"/>
          </a:solidFill>
          <a:ln w="12700">
            <a:solidFill>
              <a:srgbClr val="3BB07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530352" y="868680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3BB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INTERFACCIA UTENTE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30352" y="1197864"/>
            <a:ext cx="4956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Jetpack Compose  ·  Material 3  ·  Navigation Compose  ·  Coil  ·  ComposeCharts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971800" y="1801368"/>
            <a:ext cx="0" cy="237744"/>
          </a:xfrm>
          <a:prstGeom prst="line">
            <a:avLst/>
          </a:prstGeom>
          <a:noFill/>
          <a:ln w="25400">
            <a:solidFill>
              <a:srgbClr val="3BB07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2788920" y="182880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BB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075688"/>
            <a:ext cx="52120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0F8B5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sp>
        <p:nvSpPr>
          <p:cNvPr id="11" name="Shape 9"/>
          <p:cNvSpPr/>
          <p:nvPr/>
        </p:nvSpPr>
        <p:spPr>
          <a:xfrm>
            <a:off x="365760" y="2075688"/>
            <a:ext cx="82296" cy="987552"/>
          </a:xfrm>
          <a:prstGeom prst="rect">
            <a:avLst/>
          </a:prstGeom>
          <a:solidFill>
            <a:srgbClr val="0F8B59"/>
          </a:solidFill>
          <a:ln w="12700">
            <a:solidFill>
              <a:srgbClr val="0F8B5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530352" y="2167128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0F8B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30352" y="2496312"/>
            <a:ext cx="4956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MVVM  ·  Use Cases  ·  Repository  ·  Koin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971800" y="3099816"/>
            <a:ext cx="0" cy="237744"/>
          </a:xfrm>
          <a:prstGeom prst="line">
            <a:avLst/>
          </a:prstGeom>
          <a:noFill/>
          <a:ln w="25400">
            <a:solidFill>
              <a:srgbClr val="3BB07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2788920" y="312724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BB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374136"/>
            <a:ext cx="5212080" cy="987552"/>
          </a:xfrm>
          <a:prstGeom prst="roundRect">
            <a:avLst>
              <a:gd name="adj" fmla="val 7407"/>
            </a:avLst>
          </a:prstGeom>
          <a:solidFill>
            <a:srgbClr val="0F8B59"/>
          </a:solidFill>
          <a:ln w="19050">
            <a:solidFill>
              <a:srgbClr val="12302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365760" y="3374136"/>
            <a:ext cx="82296" cy="987552"/>
          </a:xfrm>
          <a:prstGeom prst="rect">
            <a:avLst/>
          </a:prstGeom>
          <a:solidFill>
            <a:srgbClr val="123027"/>
          </a:solidFill>
          <a:ln w="12700">
            <a:solidFill>
              <a:srgbClr val="12302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530352" y="3465576"/>
            <a:ext cx="4956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90C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 &amp; BACKEND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30352" y="3794760"/>
            <a:ext cx="4956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(Auth · DB · Storage · Realtime)  ·  Room  ·  DataStore  ·  Firebase FCM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852160" y="7772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TECNOLOGIE CHIAVE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52160" y="1115568"/>
            <a:ext cx="1389888" cy="338328"/>
          </a:xfrm>
          <a:prstGeom prst="roundRect">
            <a:avLst>
              <a:gd name="adj" fmla="val 16216"/>
            </a:avLst>
          </a:prstGeom>
          <a:solidFill>
            <a:srgbClr val="0F8B59">
              <a:alpha val="88000"/>
            </a:srgbClr>
          </a:solidFill>
          <a:ln w="12700">
            <a:solidFill>
              <a:srgbClr val="0F8B5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5852160" y="1115568"/>
            <a:ext cx="13898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333488" y="1115568"/>
            <a:ext cx="1389888" cy="338328"/>
          </a:xfrm>
          <a:prstGeom prst="roundRect">
            <a:avLst>
              <a:gd name="adj" fmla="val 16216"/>
            </a:avLst>
          </a:prstGeom>
          <a:solidFill>
            <a:srgbClr val="0F8B59">
              <a:alpha val="88000"/>
            </a:srgbClr>
          </a:solidFill>
          <a:ln w="12700">
            <a:solidFill>
              <a:srgbClr val="0F8B5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7333488" y="1115568"/>
            <a:ext cx="13898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Jetpack Compose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852160" y="1636776"/>
            <a:ext cx="1389888" cy="338328"/>
          </a:xfrm>
          <a:prstGeom prst="roundRect">
            <a:avLst>
              <a:gd name="adj" fmla="val 16216"/>
            </a:avLst>
          </a:prstGeom>
          <a:solidFill>
            <a:srgbClr val="3BB078">
              <a:alpha val="88000"/>
            </a:srgbClr>
          </a:solidFill>
          <a:ln w="12700">
            <a:solidFill>
              <a:srgbClr val="3BB07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5852160" y="1636776"/>
            <a:ext cx="13898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MVVM Architecture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333488" y="1636776"/>
            <a:ext cx="1389888" cy="338328"/>
          </a:xfrm>
          <a:prstGeom prst="roundRect">
            <a:avLst>
              <a:gd name="adj" fmla="val 16216"/>
            </a:avLst>
          </a:prstGeom>
          <a:solidFill>
            <a:srgbClr val="3BB078">
              <a:alpha val="88000"/>
            </a:srgbClr>
          </a:solidFill>
          <a:ln w="12700">
            <a:solidFill>
              <a:srgbClr val="3BB078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28" name="Text 26"/>
          <p:cNvSpPr/>
          <p:nvPr/>
        </p:nvSpPr>
        <p:spPr>
          <a:xfrm>
            <a:off x="7333488" y="1636776"/>
            <a:ext cx="13898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Koin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852160" y="2157984"/>
            <a:ext cx="1389888" cy="338328"/>
          </a:xfrm>
          <a:prstGeom prst="roundRect">
            <a:avLst>
              <a:gd name="adj" fmla="val 16216"/>
            </a:avLst>
          </a:prstGeom>
          <a:solidFill>
            <a:srgbClr val="0F8B59">
              <a:alpha val="88000"/>
            </a:srgbClr>
          </a:solidFill>
          <a:ln w="12700">
            <a:solidFill>
              <a:srgbClr val="0F8B5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5852160" y="2157984"/>
            <a:ext cx="13898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333488" y="2157984"/>
            <a:ext cx="1389888" cy="338328"/>
          </a:xfrm>
          <a:prstGeom prst="roundRect">
            <a:avLst>
              <a:gd name="adj" fmla="val 16216"/>
            </a:avLst>
          </a:prstGeom>
          <a:solidFill>
            <a:srgbClr val="3BB078">
              <a:alpha val="88000"/>
            </a:srgbClr>
          </a:solidFill>
          <a:ln w="12700">
            <a:solidFill>
              <a:srgbClr val="3BB07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7333488" y="2157984"/>
            <a:ext cx="13898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FCM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852160" y="2679192"/>
            <a:ext cx="1389888" cy="338328"/>
          </a:xfrm>
          <a:prstGeom prst="roundRect">
            <a:avLst>
              <a:gd name="adj" fmla="val 16216"/>
            </a:avLst>
          </a:prstGeom>
          <a:solidFill>
            <a:srgbClr val="90CAA6"/>
          </a:solidFill>
          <a:ln w="12700">
            <a:solidFill>
              <a:srgbClr val="90CA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5852160" y="2679192"/>
            <a:ext cx="13898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+ DataStore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7333488" y="2679192"/>
            <a:ext cx="1389888" cy="338328"/>
          </a:xfrm>
          <a:prstGeom prst="roundRect">
            <a:avLst>
              <a:gd name="adj" fmla="val 16216"/>
            </a:avLst>
          </a:prstGeom>
          <a:solidFill>
            <a:srgbClr val="90CAA6"/>
          </a:solidFill>
          <a:ln w="12700">
            <a:solidFill>
              <a:srgbClr val="90CA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/>
          <p:nvPr/>
        </p:nvSpPr>
        <p:spPr>
          <a:xfrm>
            <a:off x="7333488" y="2679192"/>
            <a:ext cx="13898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Coil + Charts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852160" y="3200400"/>
            <a:ext cx="1389888" cy="338328"/>
          </a:xfrm>
          <a:prstGeom prst="roundRect">
            <a:avLst>
              <a:gd name="adj" fmla="val 16216"/>
            </a:avLst>
          </a:prstGeom>
          <a:solidFill>
            <a:srgbClr val="3BB078">
              <a:alpha val="88000"/>
            </a:srgbClr>
          </a:solidFill>
          <a:ln w="12700">
            <a:solidFill>
              <a:srgbClr val="3BB07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Text 36"/>
          <p:cNvSpPr/>
          <p:nvPr/>
        </p:nvSpPr>
        <p:spPr>
          <a:xfrm>
            <a:off x="5852160" y="3200400"/>
            <a:ext cx="13898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Functions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333488" y="3200400"/>
            <a:ext cx="1389888" cy="338328"/>
          </a:xfrm>
          <a:prstGeom prst="roundRect">
            <a:avLst>
              <a:gd name="adj" fmla="val 16216"/>
            </a:avLst>
          </a:prstGeom>
          <a:solidFill>
            <a:srgbClr val="0F8B59">
              <a:alpha val="88000"/>
            </a:srgbClr>
          </a:solidFill>
          <a:ln w="12700">
            <a:solidFill>
              <a:srgbClr val="0F8B59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/>
          <p:nvPr/>
        </p:nvSpPr>
        <p:spPr>
          <a:xfrm>
            <a:off x="7333488" y="3200400"/>
            <a:ext cx="1389888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Design 3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290</Words>
  <Application>Microsoft Macintosh PowerPoint</Application>
  <PresentationFormat>On-screen Show (16:9)</PresentationFormat>
  <Paragraphs>77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EquiShare - Presentazione Universitaria</dc:title>
  <dc:subject>PptxGenJS Presentation</dc:subject>
  <dc:creator>Filippo Greppi</dc:creator>
  <cp:lastModifiedBy>Filippo Greppi - filippo.greppi2@studio.unibo.it</cp:lastModifiedBy>
  <cp:revision>14</cp:revision>
  <dcterms:created xsi:type="dcterms:W3CDTF">2026-05-27T19:57:34Z</dcterms:created>
  <dcterms:modified xsi:type="dcterms:W3CDTF">2026-06-05T13:47:33Z</dcterms:modified>
</cp:coreProperties>
</file>